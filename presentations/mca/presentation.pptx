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34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C49D3ED-33C8-40B1-A0C9-CB09DE25CC7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19A7A8"/>
          </a:solidFill>
          <a:ln w="0">
            <a:solidFill>
              <a:srgbClr val="19A7A8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D84F1DA-89AA-4201-9E4B-3ED70D137A4C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666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A7F3F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A7F3F3"/>
                </a:solidFill>
                <a:latin typeface="Aptos"/>
                <a:ea typeface="Aptos"/>
                <a:cs typeface="Aptos"/>
              </a:rPr>
              <a:t>MCA FINAL YEAR PROJECT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14E3A2-D039-41DF-875B-F1B85A044F67}"/>
              </a:ext>
            </a:extLst>
          </p:cNvPr>
          <p:cNvSpPr>
            <a:spLocks noGrp="1"/>
          </p:cNvSpPr>
          <p:nvPr/>
        </p:nvSpPr>
        <p:spPr>
          <a:xfrm>
            <a:off x="685800" y="1381125"/>
            <a:ext cx="9715500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Autonomous Cyber Defense System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B6009AC-4849-4EFF-82BF-8C757A7D46CF}"/>
              </a:ext>
            </a:extLst>
          </p:cNvPr>
          <p:cNvSpPr>
            <a:spLocks noGrp="1"/>
          </p:cNvSpPr>
          <p:nvPr/>
        </p:nvSpPr>
        <p:spPr>
          <a:xfrm>
            <a:off x="685800" y="2047875"/>
            <a:ext cx="10001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00" b="0">
                <a:solidFill>
                  <a:srgbClr val="D9EAF6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D9EAF6"/>
                </a:solidFill>
                <a:latin typeface="Aptos"/>
                <a:ea typeface="Aptos"/>
                <a:cs typeface="Aptos"/>
              </a:rPr>
              <a:t>using AI for Real-Time Threat Hunting in Cloud ERP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3F519D4-2308-4F17-8442-762F8C1585F0}"/>
              </a:ext>
            </a:extLst>
          </p:cNvPr>
          <p:cNvSpPr>
            <a:spLocks noGrp="1"/>
          </p:cNvSpPr>
          <p:nvPr/>
        </p:nvSpPr>
        <p:spPr>
          <a:xfrm>
            <a:off x="685800" y="2876550"/>
            <a:ext cx="342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A7F3F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A7F3F3"/>
                </a:solidFill>
                <a:latin typeface="Aptos"/>
                <a:ea typeface="Aptos"/>
                <a:cs typeface="Aptos"/>
              </a:rPr>
              <a:t>Prototype presentation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D9FF8C6-0284-4CF3-ADD5-32D2FC46EB8F}"/>
              </a:ext>
            </a:extLst>
          </p:cNvPr>
          <p:cNvSpPr>
            <a:spLocks noGrp="1"/>
          </p:cNvSpPr>
          <p:nvPr/>
        </p:nvSpPr>
        <p:spPr>
          <a:xfrm>
            <a:off x="685800" y="3829050"/>
            <a:ext cx="4667250" cy="28575"/>
          </a:xfrm>
          <a:prstGeom prst="rect">
            <a:avLst/>
          </a:prstGeom>
          <a:solidFill>
            <a:srgbClr val="19A7A8"/>
          </a:solidFill>
          <a:ln w="0">
            <a:solidFill>
              <a:srgbClr val="19A7A8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0C53AF2-AE26-48D4-B215-BBCD5FCDAF9F}"/>
              </a:ext>
            </a:extLst>
          </p:cNvPr>
          <p:cNvSpPr>
            <a:spLocks noGrp="1"/>
          </p:cNvSpPr>
          <p:nvPr/>
        </p:nvSpPr>
        <p:spPr>
          <a:xfrm>
            <a:off x="685800" y="4133850"/>
            <a:ext cx="4191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Ranjan Kumar Upadhyay</a:t>
            </a:r>
          </a:p>
          <a:p>
            <a:pPr algn="l"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MCA Final Year Student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29AB3F6-504E-44EA-B479-A41A47C7BC35}"/>
              </a:ext>
            </a:extLst>
          </p:cNvPr>
          <p:cNvSpPr>
            <a:spLocks noGrp="1"/>
          </p:cNvSpPr>
          <p:nvPr/>
        </p:nvSpPr>
        <p:spPr>
          <a:xfrm>
            <a:off x="685800" y="5810250"/>
            <a:ext cx="438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B8C8D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8C8D9"/>
                </a:solidFill>
                <a:latin typeface="Aptos"/>
                <a:ea typeface="Aptos"/>
                <a:cs typeface="Aptos"/>
              </a:rPr>
              <a:t>5-minute video presentation</a:t>
            </a:r>
          </a:p>
        </p:txBody>
      </p:sp>
    </p:spTree>
    <p:extLst>
      <p:ext uri="{BB962C8B-B14F-4D97-AF65-F5344CB8AC3E}">
        <p14:creationId xmlns:p14="http://schemas.microsoft.com/office/powerpoint/2010/main" val="746233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A18E2187-D482-4F01-8945-9816E3E162B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19A7A8"/>
          </a:solidFill>
          <a:ln w="0">
            <a:solidFill>
              <a:srgbClr val="19A7A8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74764C8-268E-4593-B155-C972DB77FFF1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6667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9A7A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9A7A8"/>
                </a:solidFill>
                <a:latin typeface="Aptos"/>
                <a:ea typeface="Aptos"/>
                <a:cs typeface="Aptos"/>
              </a:rPr>
              <a:t>PROJECT OBJECTIVES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0AEB5CA-1711-4C9A-A4B6-929CD181A8ED}"/>
              </a:ext>
            </a:extLst>
          </p:cNvPr>
          <p:cNvSpPr>
            <a:spLocks noGrp="1"/>
          </p:cNvSpPr>
          <p:nvPr/>
        </p:nvSpPr>
        <p:spPr>
          <a:xfrm>
            <a:off x="10906125" y="400050"/>
            <a:ext cx="6000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1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86581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56F415-0CF2-4983-85B1-9F491F8333E4}"/>
              </a:ext>
            </a:extLst>
          </p:cNvPr>
          <p:cNvSpPr>
            <a:spLocks noGrp="1"/>
          </p:cNvSpPr>
          <p:nvPr/>
        </p:nvSpPr>
        <p:spPr>
          <a:xfrm>
            <a:off x="685800" y="809625"/>
            <a:ext cx="10668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What the prototype aims to achieve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B238A85-6501-496A-AB37-5425DF07E611}"/>
              </a:ext>
            </a:extLst>
          </p:cNvPr>
          <p:cNvSpPr>
            <a:spLocks noGrp="1"/>
          </p:cNvSpPr>
          <p:nvPr/>
        </p:nvSpPr>
        <p:spPr>
          <a:xfrm>
            <a:off x="685800" y="1438275"/>
            <a:ext cx="10382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Focus: timely identification of suspicious activity in cloud-based ERP environments.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E4E0231-0FB9-4FC7-A4FD-BDFB41669EA8}"/>
              </a:ext>
            </a:extLst>
          </p:cNvPr>
          <p:cNvSpPr>
            <a:spLocks noGrp="1"/>
          </p:cNvSpPr>
          <p:nvPr/>
        </p:nvSpPr>
        <p:spPr>
          <a:xfrm>
            <a:off x="819150" y="2305050"/>
            <a:ext cx="123825" cy="123825"/>
          </a:xfrm>
          <a:prstGeom prst="roundRect">
            <a:avLst>
              <a:gd name="adj" fmla="val 50000"/>
            </a:avLst>
          </a:prstGeom>
          <a:solidFill>
            <a:srgbClr val="19A7A8"/>
          </a:solidFill>
          <a:ln w="0">
            <a:solidFill>
              <a:srgbClr val="19A7A8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3E9D96B-A24B-4022-86BD-37685FDA4956}"/>
              </a:ext>
            </a:extLst>
          </p:cNvPr>
          <p:cNvSpPr>
            <a:spLocks noGrp="1"/>
          </p:cNvSpPr>
          <p:nvPr/>
        </p:nvSpPr>
        <p:spPr>
          <a:xfrm>
            <a:off x="1085850" y="2238375"/>
            <a:ext cx="3905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AI-based detection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9441C5E-ABF5-43E2-A24B-7B5AC04B3AC0}"/>
              </a:ext>
            </a:extLst>
          </p:cNvPr>
          <p:cNvSpPr>
            <a:spLocks noGrp="1"/>
          </p:cNvSpPr>
          <p:nvPr/>
        </p:nvSpPr>
        <p:spPr>
          <a:xfrm>
            <a:off x="1085850" y="2543175"/>
            <a:ext cx="4095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Apply machine-learning analysis to security logs to identify potentially suspicious behaviour.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88D90E3-F017-4DB9-A04E-BB233DB0409E}"/>
              </a:ext>
            </a:extLst>
          </p:cNvPr>
          <p:cNvSpPr>
            <a:spLocks noGrp="1"/>
          </p:cNvSpPr>
          <p:nvPr/>
        </p:nvSpPr>
        <p:spPr>
          <a:xfrm>
            <a:off x="6334125" y="2305050"/>
            <a:ext cx="123825" cy="123825"/>
          </a:xfrm>
          <a:prstGeom prst="roundRect">
            <a:avLst>
              <a:gd name="adj" fmla="val 50000"/>
            </a:avLst>
          </a:prstGeom>
          <a:solidFill>
            <a:srgbClr val="19A7A8"/>
          </a:solidFill>
          <a:ln w="0">
            <a:solidFill>
              <a:srgbClr val="19A7A8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8B18DE-36B3-4A71-8487-A9D80BF89619}"/>
              </a:ext>
            </a:extLst>
          </p:cNvPr>
          <p:cNvSpPr>
            <a:spLocks noGrp="1"/>
          </p:cNvSpPr>
          <p:nvPr/>
        </p:nvSpPr>
        <p:spPr>
          <a:xfrm>
            <a:off x="6600825" y="2238375"/>
            <a:ext cx="3905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Real-time monitoring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8CB140A-FECB-4153-AF35-93A783BF02D2}"/>
              </a:ext>
            </a:extLst>
          </p:cNvPr>
          <p:cNvSpPr>
            <a:spLocks noGrp="1"/>
          </p:cNvSpPr>
          <p:nvPr/>
        </p:nvSpPr>
        <p:spPr>
          <a:xfrm>
            <a:off x="6600825" y="2543175"/>
            <a:ext cx="4095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Continuously observe log activity instead of relying only on manual review.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3566B88-9808-4FEA-BB3E-66382090E76B}"/>
              </a:ext>
            </a:extLst>
          </p:cNvPr>
          <p:cNvSpPr>
            <a:spLocks noGrp="1"/>
          </p:cNvSpPr>
          <p:nvPr/>
        </p:nvSpPr>
        <p:spPr>
          <a:xfrm>
            <a:off x="819150" y="3924300"/>
            <a:ext cx="123825" cy="123825"/>
          </a:xfrm>
          <a:prstGeom prst="roundRect">
            <a:avLst>
              <a:gd name="adj" fmla="val 50000"/>
            </a:avLst>
          </a:prstGeom>
          <a:solidFill>
            <a:srgbClr val="19A7A8"/>
          </a:solidFill>
          <a:ln w="0">
            <a:solidFill>
              <a:srgbClr val="19A7A8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A3F36B4-8215-449C-AA9D-0F7FE235C552}"/>
              </a:ext>
            </a:extLst>
          </p:cNvPr>
          <p:cNvSpPr>
            <a:spLocks noGrp="1"/>
          </p:cNvSpPr>
          <p:nvPr/>
        </p:nvSpPr>
        <p:spPr>
          <a:xfrm>
            <a:off x="1085850" y="3857625"/>
            <a:ext cx="3905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Automated security alerts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2C0D474-B026-44A9-B876-107372F99876}"/>
              </a:ext>
            </a:extLst>
          </p:cNvPr>
          <p:cNvSpPr>
            <a:spLocks noGrp="1"/>
          </p:cNvSpPr>
          <p:nvPr/>
        </p:nvSpPr>
        <p:spPr>
          <a:xfrm>
            <a:off x="1085850" y="4162425"/>
            <a:ext cx="4095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Generate alerts when a potential threat is detected for further investigation.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0BB0C73-572E-44D9-A4B2-889B902C4292}"/>
              </a:ext>
            </a:extLst>
          </p:cNvPr>
          <p:cNvSpPr>
            <a:spLocks noGrp="1"/>
          </p:cNvSpPr>
          <p:nvPr/>
        </p:nvSpPr>
        <p:spPr>
          <a:xfrm>
            <a:off x="6334125" y="3924300"/>
            <a:ext cx="123825" cy="123825"/>
          </a:xfrm>
          <a:prstGeom prst="roundRect">
            <a:avLst>
              <a:gd name="adj" fmla="val 50000"/>
            </a:avLst>
          </a:prstGeom>
          <a:solidFill>
            <a:srgbClr val="19A7A8"/>
          </a:solidFill>
          <a:ln w="0">
            <a:solidFill>
              <a:srgbClr val="19A7A8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DB02E93-86E7-4C9A-B110-3AEABEFCD84F}"/>
              </a:ext>
            </a:extLst>
          </p:cNvPr>
          <p:cNvSpPr>
            <a:spLocks noGrp="1"/>
          </p:cNvSpPr>
          <p:nvPr/>
        </p:nvSpPr>
        <p:spPr>
          <a:xfrm>
            <a:off x="6600825" y="3857625"/>
            <a:ext cx="3905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Improved ERP security monitoring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587C219-1070-424F-B5E4-A1B030146E9B}"/>
              </a:ext>
            </a:extLst>
          </p:cNvPr>
          <p:cNvSpPr>
            <a:spLocks noGrp="1"/>
          </p:cNvSpPr>
          <p:nvPr/>
        </p:nvSpPr>
        <p:spPr>
          <a:xfrm>
            <a:off x="6600825" y="4162425"/>
            <a:ext cx="4095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Support a more proactive and scalable security-monitoring approach.</a:t>
            </a:r>
          </a:p>
        </p:txBody>
      </p:sp>
    </p:spTree>
    <p:extLst>
      <p:ext uri="{BB962C8B-B14F-4D97-AF65-F5344CB8AC3E}">
        <p14:creationId xmlns:p14="http://schemas.microsoft.com/office/powerpoint/2010/main" val="14921231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179CCB94-9CCE-4D36-8F05-53E50FC1C57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19A7A8"/>
          </a:solidFill>
          <a:ln w="0">
            <a:solidFill>
              <a:srgbClr val="19A7A8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31C830C-826E-4644-9357-97D6E13921ED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6667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9A7A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9A7A8"/>
                </a:solidFill>
                <a:latin typeface="Aptos"/>
                <a:ea typeface="Aptos"/>
                <a:cs typeface="Aptos"/>
              </a:rPr>
              <a:t>RESEARCH METHODOLOGY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99CCDE0-8E47-4DDE-B656-D84F22AA7835}"/>
              </a:ext>
            </a:extLst>
          </p:cNvPr>
          <p:cNvSpPr>
            <a:spLocks noGrp="1"/>
          </p:cNvSpPr>
          <p:nvPr/>
        </p:nvSpPr>
        <p:spPr>
          <a:xfrm>
            <a:off x="10906125" y="400050"/>
            <a:ext cx="6000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1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86581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8AD28D1-BA4B-40C3-AB24-6879A35C6EDB}"/>
              </a:ext>
            </a:extLst>
          </p:cNvPr>
          <p:cNvSpPr>
            <a:spLocks noGrp="1"/>
          </p:cNvSpPr>
          <p:nvPr/>
        </p:nvSpPr>
        <p:spPr>
          <a:xfrm>
            <a:off x="685800" y="809625"/>
            <a:ext cx="10668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A five-stage threat-hunting methodology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0052D78-92CE-4CA0-BBA4-02C10B6AEE5A}"/>
              </a:ext>
            </a:extLst>
          </p:cNvPr>
          <p:cNvSpPr>
            <a:spLocks noGrp="1"/>
          </p:cNvSpPr>
          <p:nvPr/>
        </p:nvSpPr>
        <p:spPr>
          <a:xfrm>
            <a:off x="685800" y="1438275"/>
            <a:ext cx="10382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The system turns cloud security data into actionable alerts.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E215F67-1174-41E9-8B0B-CDF903FF4FFC}"/>
              </a:ext>
            </a:extLst>
          </p:cNvPr>
          <p:cNvSpPr>
            <a:spLocks noGrp="1"/>
          </p:cNvSpPr>
          <p:nvPr/>
        </p:nvSpPr>
        <p:spPr>
          <a:xfrm>
            <a:off x="685800" y="2619375"/>
            <a:ext cx="1809750" cy="180975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0">
            <a:solidFill>
              <a:srgbClr val="D8E5EE"/>
            </a:solidFill>
            <a:prstDash val="solid"/>
          </a:ln>
        </p:spPr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C9D90E6-C378-42E2-B0C6-85336E84A238}"/>
              </a:ext>
            </a:extLst>
          </p:cNvPr>
          <p:cNvSpPr>
            <a:spLocks noGrp="1"/>
          </p:cNvSpPr>
          <p:nvPr/>
        </p:nvSpPr>
        <p:spPr>
          <a:xfrm>
            <a:off x="876300" y="2838450"/>
            <a:ext cx="400050" cy="400050"/>
          </a:xfrm>
          <a:prstGeom prst="roundRect">
            <a:avLst>
              <a:gd name="adj" fmla="val 28571"/>
            </a:avLst>
          </a:prstGeom>
          <a:solidFill>
            <a:srgbClr val="19A7A8"/>
          </a:solidFill>
          <a:ln w="0">
            <a:solidFill>
              <a:srgbClr val="19A7A8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939FA10-3137-4A5A-B36F-90AEAEA4D7AF}"/>
              </a:ext>
            </a:extLst>
          </p:cNvPr>
          <p:cNvSpPr>
            <a:spLocks noGrp="1"/>
          </p:cNvSpPr>
          <p:nvPr/>
        </p:nvSpPr>
        <p:spPr>
          <a:xfrm>
            <a:off x="876300" y="2905125"/>
            <a:ext cx="4000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AA112C3-29CD-4DEF-A412-439394A63AE5}"/>
              </a:ext>
            </a:extLst>
          </p:cNvPr>
          <p:cNvSpPr>
            <a:spLocks noGrp="1"/>
          </p:cNvSpPr>
          <p:nvPr/>
        </p:nvSpPr>
        <p:spPr>
          <a:xfrm>
            <a:off x="876300" y="3409950"/>
            <a:ext cx="14287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Data collection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C004C4A-A417-455C-8FE7-10088FDFBB1D}"/>
              </a:ext>
            </a:extLst>
          </p:cNvPr>
          <p:cNvSpPr>
            <a:spLocks noGrp="1"/>
          </p:cNvSpPr>
          <p:nvPr/>
        </p:nvSpPr>
        <p:spPr>
          <a:xfrm>
            <a:off x="876300" y="3743325"/>
            <a:ext cx="1428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Gather relevant cloud and ERP security logs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C67C9F5-54DD-4151-BA42-499B358F7D32}"/>
              </a:ext>
            </a:extLst>
          </p:cNvPr>
          <p:cNvSpPr>
            <a:spLocks noGrp="1"/>
          </p:cNvSpPr>
          <p:nvPr/>
        </p:nvSpPr>
        <p:spPr>
          <a:xfrm>
            <a:off x="2533650" y="3333750"/>
            <a:ext cx="285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19A7A8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9A7A8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2EBDB98-E46E-4C65-82F2-3ABEBA2CECEA}"/>
              </a:ext>
            </a:extLst>
          </p:cNvPr>
          <p:cNvSpPr>
            <a:spLocks noGrp="1"/>
          </p:cNvSpPr>
          <p:nvPr/>
        </p:nvSpPr>
        <p:spPr>
          <a:xfrm>
            <a:off x="2838450" y="2619375"/>
            <a:ext cx="1809750" cy="180975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0">
            <a:solidFill>
              <a:srgbClr val="D8E5EE"/>
            </a:solidFill>
            <a:prstDash val="solid"/>
          </a:ln>
        </p:spPr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3F7ACA5-6FFF-4455-8E13-105C23F01146}"/>
              </a:ext>
            </a:extLst>
          </p:cNvPr>
          <p:cNvSpPr>
            <a:spLocks noGrp="1"/>
          </p:cNvSpPr>
          <p:nvPr/>
        </p:nvSpPr>
        <p:spPr>
          <a:xfrm>
            <a:off x="3028950" y="2838450"/>
            <a:ext cx="400050" cy="400050"/>
          </a:xfrm>
          <a:prstGeom prst="roundRect">
            <a:avLst>
              <a:gd name="adj" fmla="val 28571"/>
            </a:avLst>
          </a:prstGeom>
          <a:solidFill>
            <a:srgbClr val="19A7A8"/>
          </a:solidFill>
          <a:ln w="0">
            <a:solidFill>
              <a:srgbClr val="19A7A8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3991E81-8733-4F04-8BBA-2630F00F0CAD}"/>
              </a:ext>
            </a:extLst>
          </p:cNvPr>
          <p:cNvSpPr>
            <a:spLocks noGrp="1"/>
          </p:cNvSpPr>
          <p:nvPr/>
        </p:nvSpPr>
        <p:spPr>
          <a:xfrm>
            <a:off x="3028950" y="2905125"/>
            <a:ext cx="4000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B756D93-9AE3-4C14-B0BE-AE31DF5F577F}"/>
              </a:ext>
            </a:extLst>
          </p:cNvPr>
          <p:cNvSpPr>
            <a:spLocks noGrp="1"/>
          </p:cNvSpPr>
          <p:nvPr/>
        </p:nvSpPr>
        <p:spPr>
          <a:xfrm>
            <a:off x="3028950" y="3409950"/>
            <a:ext cx="14287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Processing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98DD45C-926C-46E2-9910-ECFE1B8CB04A}"/>
              </a:ext>
            </a:extLst>
          </p:cNvPr>
          <p:cNvSpPr>
            <a:spLocks noGrp="1"/>
          </p:cNvSpPr>
          <p:nvPr/>
        </p:nvSpPr>
        <p:spPr>
          <a:xfrm>
            <a:off x="3028950" y="3743325"/>
            <a:ext cx="1428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Prepare and filter logs for analysis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FFF0A18-855A-476E-B1E5-5FDBEB499D9C}"/>
              </a:ext>
            </a:extLst>
          </p:cNvPr>
          <p:cNvSpPr>
            <a:spLocks noGrp="1"/>
          </p:cNvSpPr>
          <p:nvPr/>
        </p:nvSpPr>
        <p:spPr>
          <a:xfrm>
            <a:off x="4686300" y="3333750"/>
            <a:ext cx="285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19A7A8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9A7A8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EA861B0-61D7-4213-9FB3-F822C0559952}"/>
              </a:ext>
            </a:extLst>
          </p:cNvPr>
          <p:cNvSpPr>
            <a:spLocks noGrp="1"/>
          </p:cNvSpPr>
          <p:nvPr/>
        </p:nvSpPr>
        <p:spPr>
          <a:xfrm>
            <a:off x="4991100" y="2619375"/>
            <a:ext cx="1809750" cy="180975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0">
            <a:solidFill>
              <a:srgbClr val="D8E5EE"/>
            </a:solidFill>
            <a:prstDash val="solid"/>
          </a:ln>
        </p:spPr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C33D582-251C-47BC-8D1E-CBA826F3614E}"/>
              </a:ext>
            </a:extLst>
          </p:cNvPr>
          <p:cNvSpPr>
            <a:spLocks noGrp="1"/>
          </p:cNvSpPr>
          <p:nvPr/>
        </p:nvSpPr>
        <p:spPr>
          <a:xfrm>
            <a:off x="5181600" y="2838450"/>
            <a:ext cx="400050" cy="400050"/>
          </a:xfrm>
          <a:prstGeom prst="roundRect">
            <a:avLst>
              <a:gd name="adj" fmla="val 28571"/>
            </a:avLst>
          </a:prstGeom>
          <a:solidFill>
            <a:srgbClr val="19A7A8"/>
          </a:solidFill>
          <a:ln w="0">
            <a:solidFill>
              <a:srgbClr val="19A7A8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FD53A3D-11CB-43E1-B525-2F5E04BE45C8}"/>
              </a:ext>
            </a:extLst>
          </p:cNvPr>
          <p:cNvSpPr>
            <a:spLocks noGrp="1"/>
          </p:cNvSpPr>
          <p:nvPr/>
        </p:nvSpPr>
        <p:spPr>
          <a:xfrm>
            <a:off x="5181600" y="2905125"/>
            <a:ext cx="4000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E9E6587-412C-40A3-A8BD-CBBBBB1D3C06}"/>
              </a:ext>
            </a:extLst>
          </p:cNvPr>
          <p:cNvSpPr>
            <a:spLocks noGrp="1"/>
          </p:cNvSpPr>
          <p:nvPr/>
        </p:nvSpPr>
        <p:spPr>
          <a:xfrm>
            <a:off x="5181600" y="3409950"/>
            <a:ext cx="14287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Training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735807A-CBE2-482A-8FC3-88B1E86DA23A}"/>
              </a:ext>
            </a:extLst>
          </p:cNvPr>
          <p:cNvSpPr>
            <a:spLocks noGrp="1"/>
          </p:cNvSpPr>
          <p:nvPr/>
        </p:nvSpPr>
        <p:spPr>
          <a:xfrm>
            <a:off x="5181600" y="3743325"/>
            <a:ext cx="1428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Learn normal and suspicious activity patterns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4B2D3A7-A54B-42CB-B713-A7F9D09CC339}"/>
              </a:ext>
            </a:extLst>
          </p:cNvPr>
          <p:cNvSpPr>
            <a:spLocks noGrp="1"/>
          </p:cNvSpPr>
          <p:nvPr/>
        </p:nvSpPr>
        <p:spPr>
          <a:xfrm>
            <a:off x="6838950" y="3333750"/>
            <a:ext cx="285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19A7A8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9A7A8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6A8A3CC9-DD21-41B1-9C6A-F5B8B15A6440}"/>
              </a:ext>
            </a:extLst>
          </p:cNvPr>
          <p:cNvSpPr>
            <a:spLocks noGrp="1"/>
          </p:cNvSpPr>
          <p:nvPr/>
        </p:nvSpPr>
        <p:spPr>
          <a:xfrm>
            <a:off x="7143750" y="2619375"/>
            <a:ext cx="1809750" cy="180975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0">
            <a:solidFill>
              <a:srgbClr val="D8E5EE"/>
            </a:solidFill>
            <a:prstDash val="solid"/>
          </a:ln>
        </p:spPr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6E804ABB-3114-46BE-A100-C5FB2AA34048}"/>
              </a:ext>
            </a:extLst>
          </p:cNvPr>
          <p:cNvSpPr>
            <a:spLocks noGrp="1"/>
          </p:cNvSpPr>
          <p:nvPr/>
        </p:nvSpPr>
        <p:spPr>
          <a:xfrm>
            <a:off x="7334250" y="2838450"/>
            <a:ext cx="400050" cy="400050"/>
          </a:xfrm>
          <a:prstGeom prst="roundRect">
            <a:avLst>
              <a:gd name="adj" fmla="val 28571"/>
            </a:avLst>
          </a:prstGeom>
          <a:solidFill>
            <a:srgbClr val="19A7A8"/>
          </a:solidFill>
          <a:ln w="0">
            <a:solidFill>
              <a:srgbClr val="19A7A8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693DF52-5237-4A32-A8E6-2437F013DCB8}"/>
              </a:ext>
            </a:extLst>
          </p:cNvPr>
          <p:cNvSpPr>
            <a:spLocks noGrp="1"/>
          </p:cNvSpPr>
          <p:nvPr/>
        </p:nvSpPr>
        <p:spPr>
          <a:xfrm>
            <a:off x="7334250" y="2905125"/>
            <a:ext cx="4000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3F06356-D0D0-4643-8F7E-600799159726}"/>
              </a:ext>
            </a:extLst>
          </p:cNvPr>
          <p:cNvSpPr>
            <a:spLocks noGrp="1"/>
          </p:cNvSpPr>
          <p:nvPr/>
        </p:nvSpPr>
        <p:spPr>
          <a:xfrm>
            <a:off x="7334250" y="3409950"/>
            <a:ext cx="14287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Detection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A2D3DEF-4D2B-43A0-B8F5-7A7F22E317CC}"/>
              </a:ext>
            </a:extLst>
          </p:cNvPr>
          <p:cNvSpPr>
            <a:spLocks noGrp="1"/>
          </p:cNvSpPr>
          <p:nvPr/>
        </p:nvSpPr>
        <p:spPr>
          <a:xfrm>
            <a:off x="7334250" y="3743325"/>
            <a:ext cx="1428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Analyse incoming activity for anomalies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6853222-AE83-4EC3-9617-0418B241EF21}"/>
              </a:ext>
            </a:extLst>
          </p:cNvPr>
          <p:cNvSpPr>
            <a:spLocks noGrp="1"/>
          </p:cNvSpPr>
          <p:nvPr/>
        </p:nvSpPr>
        <p:spPr>
          <a:xfrm>
            <a:off x="8991600" y="3333750"/>
            <a:ext cx="285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19A7A8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9A7A8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46C553A4-1192-42CB-B2E0-D35EADB0668F}"/>
              </a:ext>
            </a:extLst>
          </p:cNvPr>
          <p:cNvSpPr>
            <a:spLocks noGrp="1"/>
          </p:cNvSpPr>
          <p:nvPr/>
        </p:nvSpPr>
        <p:spPr>
          <a:xfrm>
            <a:off x="9296400" y="2619375"/>
            <a:ext cx="1809750" cy="180975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0">
            <a:solidFill>
              <a:srgbClr val="D8E5EE"/>
            </a:solidFill>
            <a:prstDash val="solid"/>
          </a:ln>
        </p:spPr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5FD474E2-6D35-491E-822E-4F963D9E8DFB}"/>
              </a:ext>
            </a:extLst>
          </p:cNvPr>
          <p:cNvSpPr>
            <a:spLocks noGrp="1"/>
          </p:cNvSpPr>
          <p:nvPr/>
        </p:nvSpPr>
        <p:spPr>
          <a:xfrm>
            <a:off x="9486900" y="2838450"/>
            <a:ext cx="400050" cy="400050"/>
          </a:xfrm>
          <a:prstGeom prst="roundRect">
            <a:avLst>
              <a:gd name="adj" fmla="val 28571"/>
            </a:avLst>
          </a:prstGeom>
          <a:solidFill>
            <a:srgbClr val="19A7A8"/>
          </a:solidFill>
          <a:ln w="0">
            <a:solidFill>
              <a:srgbClr val="19A7A8"/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BAD5B60-B253-467D-A62A-A55281E4822E}"/>
              </a:ext>
            </a:extLst>
          </p:cNvPr>
          <p:cNvSpPr>
            <a:spLocks noGrp="1"/>
          </p:cNvSpPr>
          <p:nvPr/>
        </p:nvSpPr>
        <p:spPr>
          <a:xfrm>
            <a:off x="9486900" y="2905125"/>
            <a:ext cx="4000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B02F11D-E701-4DB2-A357-917E356C6190}"/>
              </a:ext>
            </a:extLst>
          </p:cNvPr>
          <p:cNvSpPr>
            <a:spLocks noGrp="1"/>
          </p:cNvSpPr>
          <p:nvPr/>
        </p:nvSpPr>
        <p:spPr>
          <a:xfrm>
            <a:off x="9486900" y="3409950"/>
            <a:ext cx="14287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Alerts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509248F-3890-4B1E-A630-764448E28660}"/>
              </a:ext>
            </a:extLst>
          </p:cNvPr>
          <p:cNvSpPr>
            <a:spLocks noGrp="1"/>
          </p:cNvSpPr>
          <p:nvPr/>
        </p:nvSpPr>
        <p:spPr>
          <a:xfrm>
            <a:off x="9486900" y="3743325"/>
            <a:ext cx="1428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Flag potential security events for review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D68F6F8-E560-4CB8-B272-50BDE25CE9F6}"/>
              </a:ext>
            </a:extLst>
          </p:cNvPr>
          <p:cNvSpPr>
            <a:spLocks noGrp="1"/>
          </p:cNvSpPr>
          <p:nvPr/>
        </p:nvSpPr>
        <p:spPr>
          <a:xfrm>
            <a:off x="685800" y="5334000"/>
            <a:ext cx="1000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Flow: Logs → Monitoring → AI analysis → Security alerts</a:t>
            </a:r>
          </a:p>
        </p:txBody>
      </p:sp>
    </p:spTree>
    <p:extLst>
      <p:ext uri="{BB962C8B-B14F-4D97-AF65-F5344CB8AC3E}">
        <p14:creationId xmlns:p14="http://schemas.microsoft.com/office/powerpoint/2010/main" val="4599302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17D40E25-4011-42EF-83A1-365B3B027E5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19A7A8"/>
          </a:solidFill>
          <a:ln w="0">
            <a:solidFill>
              <a:srgbClr val="19A7A8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3D81158-71B1-43E1-B730-CE0D3C0ABB2D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6667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9A7A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9A7A8"/>
                </a:solidFill>
                <a:latin typeface="Aptos"/>
                <a:ea typeface="Aptos"/>
                <a:cs typeface="Aptos"/>
              </a:rPr>
              <a:t>PROJECT OUTCOME — FINDINGS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39500AF-A100-45C7-9ECC-BB39C91631E1}"/>
              </a:ext>
            </a:extLst>
          </p:cNvPr>
          <p:cNvSpPr>
            <a:spLocks noGrp="1"/>
          </p:cNvSpPr>
          <p:nvPr/>
        </p:nvSpPr>
        <p:spPr>
          <a:xfrm>
            <a:off x="10906125" y="400050"/>
            <a:ext cx="6000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1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86581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ACB37A-E50D-4E15-B3F5-48302A3D4DC9}"/>
              </a:ext>
            </a:extLst>
          </p:cNvPr>
          <p:cNvSpPr>
            <a:spLocks noGrp="1"/>
          </p:cNvSpPr>
          <p:nvPr/>
        </p:nvSpPr>
        <p:spPr>
          <a:xfrm>
            <a:off x="685800" y="809625"/>
            <a:ext cx="10668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2850" b="1" dirty="0">
                <a:solidFill>
                  <a:srgbClr val="0B1F3A"/>
                </a:solidFill>
                <a:latin typeface="Aptos"/>
                <a:ea typeface="Aptos"/>
                <a:cs typeface="Aptos"/>
              </a:rPr>
              <a:t>The prototype demonstrates a clear detection-and-alert workflow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945D659-FDAE-4FF2-85F2-575D0B9F7A83}"/>
              </a:ext>
            </a:extLst>
          </p:cNvPr>
          <p:cNvSpPr>
            <a:spLocks noGrp="1"/>
          </p:cNvSpPr>
          <p:nvPr/>
        </p:nvSpPr>
        <p:spPr>
          <a:xfrm>
            <a:off x="685800" y="1657350"/>
            <a:ext cx="10382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350" b="0" dirty="0">
                <a:solidFill>
                  <a:srgbClr val="486581"/>
                </a:solidFill>
                <a:latin typeface="Aptos"/>
                <a:ea typeface="Aptos"/>
                <a:cs typeface="Aptos"/>
              </a:rPr>
              <a:t>Findings are limited to the prototype scope and available data.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60DB7BA-674B-43FC-96CE-78A83B6D6BF0}"/>
              </a:ext>
            </a:extLst>
          </p:cNvPr>
          <p:cNvSpPr>
            <a:spLocks noGrp="1"/>
          </p:cNvSpPr>
          <p:nvPr/>
        </p:nvSpPr>
        <p:spPr>
          <a:xfrm>
            <a:off x="819150" y="2305050"/>
            <a:ext cx="123825" cy="123825"/>
          </a:xfrm>
          <a:prstGeom prst="roundRect">
            <a:avLst>
              <a:gd name="adj" fmla="val 50000"/>
            </a:avLst>
          </a:prstGeom>
          <a:solidFill>
            <a:srgbClr val="19A7A8"/>
          </a:solidFill>
          <a:ln w="0">
            <a:solidFill>
              <a:srgbClr val="19A7A8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6AF9A36-8D6B-4970-8C1C-1A6C98F2EA35}"/>
              </a:ext>
            </a:extLst>
          </p:cNvPr>
          <p:cNvSpPr>
            <a:spLocks noGrp="1"/>
          </p:cNvSpPr>
          <p:nvPr/>
        </p:nvSpPr>
        <p:spPr>
          <a:xfrm>
            <a:off x="1085850" y="2238375"/>
            <a:ext cx="3905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Centralised log flow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365AA8B-0BD0-474D-9F5E-557C1F77DADA}"/>
              </a:ext>
            </a:extLst>
          </p:cNvPr>
          <p:cNvSpPr>
            <a:spLocks noGrp="1"/>
          </p:cNvSpPr>
          <p:nvPr/>
        </p:nvSpPr>
        <p:spPr>
          <a:xfrm>
            <a:off x="1085850" y="2543175"/>
            <a:ext cx="4095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Security logs can be collected, processed, and analysed through one proposed workflow.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0E8A3F5-AE96-465B-9319-5A9F07E5AF25}"/>
              </a:ext>
            </a:extLst>
          </p:cNvPr>
          <p:cNvSpPr>
            <a:spLocks noGrp="1"/>
          </p:cNvSpPr>
          <p:nvPr/>
        </p:nvSpPr>
        <p:spPr>
          <a:xfrm>
            <a:off x="6334125" y="2305050"/>
            <a:ext cx="123825" cy="123825"/>
          </a:xfrm>
          <a:prstGeom prst="roundRect">
            <a:avLst>
              <a:gd name="adj" fmla="val 50000"/>
            </a:avLst>
          </a:prstGeom>
          <a:solidFill>
            <a:srgbClr val="19A7A8"/>
          </a:solidFill>
          <a:ln w="0">
            <a:solidFill>
              <a:srgbClr val="19A7A8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CA3EBE5-A7D1-4B25-97BB-28F57E724C81}"/>
              </a:ext>
            </a:extLst>
          </p:cNvPr>
          <p:cNvSpPr>
            <a:spLocks noGrp="1"/>
          </p:cNvSpPr>
          <p:nvPr/>
        </p:nvSpPr>
        <p:spPr>
          <a:xfrm>
            <a:off x="6600825" y="2238375"/>
            <a:ext cx="3905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Earlier visibility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DC9CA07-FD3B-43DA-A113-1425E990B77D}"/>
              </a:ext>
            </a:extLst>
          </p:cNvPr>
          <p:cNvSpPr>
            <a:spLocks noGrp="1"/>
          </p:cNvSpPr>
          <p:nvPr/>
        </p:nvSpPr>
        <p:spPr>
          <a:xfrm>
            <a:off x="6600825" y="2543175"/>
            <a:ext cx="4095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AI-based analysis can help highlight unusual activity faster than purely manual monitoring.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85EAD5E-CCDE-4938-81DD-44BA011DFB75}"/>
              </a:ext>
            </a:extLst>
          </p:cNvPr>
          <p:cNvSpPr>
            <a:spLocks noGrp="1"/>
          </p:cNvSpPr>
          <p:nvPr/>
        </p:nvSpPr>
        <p:spPr>
          <a:xfrm>
            <a:off x="819150" y="3924300"/>
            <a:ext cx="123825" cy="123825"/>
          </a:xfrm>
          <a:prstGeom prst="roundRect">
            <a:avLst>
              <a:gd name="adj" fmla="val 50000"/>
            </a:avLst>
          </a:prstGeom>
          <a:solidFill>
            <a:srgbClr val="19A7A8"/>
          </a:solidFill>
          <a:ln w="0">
            <a:solidFill>
              <a:srgbClr val="19A7A8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FCDC62-3C36-4E24-970D-59C987E8C16A}"/>
              </a:ext>
            </a:extLst>
          </p:cNvPr>
          <p:cNvSpPr>
            <a:spLocks noGrp="1"/>
          </p:cNvSpPr>
          <p:nvPr/>
        </p:nvSpPr>
        <p:spPr>
          <a:xfrm>
            <a:off x="1085850" y="3857625"/>
            <a:ext cx="3905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Actionable alerts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A3D2ADB-8480-43A4-BB9B-9DB2CDFF28A1}"/>
              </a:ext>
            </a:extLst>
          </p:cNvPr>
          <p:cNvSpPr>
            <a:spLocks noGrp="1"/>
          </p:cNvSpPr>
          <p:nvPr/>
        </p:nvSpPr>
        <p:spPr>
          <a:xfrm>
            <a:off x="1085850" y="4162425"/>
            <a:ext cx="4095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Potentially suspicious events are surfaced as alerts for security review.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73B3A6C-E10D-4ADA-8E30-AF17765C2C3E}"/>
              </a:ext>
            </a:extLst>
          </p:cNvPr>
          <p:cNvSpPr>
            <a:spLocks noGrp="1"/>
          </p:cNvSpPr>
          <p:nvPr/>
        </p:nvSpPr>
        <p:spPr>
          <a:xfrm>
            <a:off x="6334125" y="3924300"/>
            <a:ext cx="123825" cy="123825"/>
          </a:xfrm>
          <a:prstGeom prst="roundRect">
            <a:avLst>
              <a:gd name="adj" fmla="val 50000"/>
            </a:avLst>
          </a:prstGeom>
          <a:solidFill>
            <a:srgbClr val="19A7A8"/>
          </a:solidFill>
          <a:ln w="0">
            <a:solidFill>
              <a:srgbClr val="19A7A8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86A2BF0-44FD-45E2-ADD1-C837B64AD59F}"/>
              </a:ext>
            </a:extLst>
          </p:cNvPr>
          <p:cNvSpPr>
            <a:spLocks noGrp="1"/>
          </p:cNvSpPr>
          <p:nvPr/>
        </p:nvSpPr>
        <p:spPr>
          <a:xfrm>
            <a:off x="6600825" y="3857625"/>
            <a:ext cx="3905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Scalable foundation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4F7AA56-0283-470E-92E7-63000C286F0C}"/>
              </a:ext>
            </a:extLst>
          </p:cNvPr>
          <p:cNvSpPr>
            <a:spLocks noGrp="1"/>
          </p:cNvSpPr>
          <p:nvPr/>
        </p:nvSpPr>
        <p:spPr>
          <a:xfrm>
            <a:off x="6600825" y="4162425"/>
            <a:ext cx="4095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The approach can be extended as the environment and volume of security data grow.</a:t>
            </a:r>
          </a:p>
        </p:txBody>
      </p:sp>
    </p:spTree>
    <p:extLst>
      <p:ext uri="{BB962C8B-B14F-4D97-AF65-F5344CB8AC3E}">
        <p14:creationId xmlns:p14="http://schemas.microsoft.com/office/powerpoint/2010/main" val="8015244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1A9CEB5E-9B92-48C0-8D31-0A06B667BF6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19A7A8"/>
          </a:solidFill>
          <a:ln w="0">
            <a:solidFill>
              <a:srgbClr val="19A7A8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5E62A5F-5910-4ED2-9484-1C8062D84389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6667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9A7A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9A7A8"/>
                </a:solidFill>
                <a:latin typeface="Aptos"/>
                <a:ea typeface="Aptos"/>
                <a:cs typeface="Aptos"/>
              </a:rPr>
              <a:t>OUTCOME — CONCLUSION &amp; RECOMMENDATIONS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AEB922A-15F9-4432-8F03-61EDAE470E81}"/>
              </a:ext>
            </a:extLst>
          </p:cNvPr>
          <p:cNvSpPr>
            <a:spLocks noGrp="1"/>
          </p:cNvSpPr>
          <p:nvPr/>
        </p:nvSpPr>
        <p:spPr>
          <a:xfrm>
            <a:off x="10906125" y="400050"/>
            <a:ext cx="6000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1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86581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D4D3742-B581-44EE-A5A5-5E79255DEBC9}"/>
              </a:ext>
            </a:extLst>
          </p:cNvPr>
          <p:cNvSpPr>
            <a:spLocks noGrp="1"/>
          </p:cNvSpPr>
          <p:nvPr/>
        </p:nvSpPr>
        <p:spPr>
          <a:xfrm>
            <a:off x="685800" y="809625"/>
            <a:ext cx="10668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A practical foundation for proactive cloud ERP security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E3B3862-F12E-433C-919C-D1E5AD771F1E}"/>
              </a:ext>
            </a:extLst>
          </p:cNvPr>
          <p:cNvSpPr>
            <a:spLocks noGrp="1"/>
          </p:cNvSpPr>
          <p:nvPr/>
        </p:nvSpPr>
        <p:spPr>
          <a:xfrm>
            <a:off x="685800" y="1438275"/>
            <a:ext cx="10382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The present work is a prototype, not a production-level autonomous response system.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25E6005-CB1A-4CDA-B1CD-75443F01B6EA}"/>
              </a:ext>
            </a:extLst>
          </p:cNvPr>
          <p:cNvSpPr>
            <a:spLocks noGrp="1"/>
          </p:cNvSpPr>
          <p:nvPr/>
        </p:nvSpPr>
        <p:spPr>
          <a:xfrm>
            <a:off x="685800" y="2266950"/>
            <a:ext cx="4991100" cy="295275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0">
            <a:solidFill>
              <a:srgbClr val="D8E5EE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2459E6E-B58A-4140-B386-8A8D6CB2E223}"/>
              </a:ext>
            </a:extLst>
          </p:cNvPr>
          <p:cNvSpPr>
            <a:spLocks noGrp="1"/>
          </p:cNvSpPr>
          <p:nvPr/>
        </p:nvSpPr>
        <p:spPr>
          <a:xfrm>
            <a:off x="1009650" y="2609850"/>
            <a:ext cx="285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Conclusion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31456CB-6913-4F96-9C39-07D54A927BDB}"/>
              </a:ext>
            </a:extLst>
          </p:cNvPr>
          <p:cNvSpPr>
            <a:spLocks noGrp="1"/>
          </p:cNvSpPr>
          <p:nvPr/>
        </p:nvSpPr>
        <p:spPr>
          <a:xfrm>
            <a:off x="1009650" y="3143250"/>
            <a:ext cx="40005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The proposed system combines log monitoring, AI-based detection, and security alerts to strengthen cloud ERP threat hunting. Its effectiveness depends on the quality and quantity of available training data.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E912A37-D29B-4145-81B0-9348C2981CDA}"/>
              </a:ext>
            </a:extLst>
          </p:cNvPr>
          <p:cNvSpPr>
            <a:spLocks noGrp="1"/>
          </p:cNvSpPr>
          <p:nvPr/>
        </p:nvSpPr>
        <p:spPr>
          <a:xfrm>
            <a:off x="6191250" y="2266950"/>
            <a:ext cx="5314950" cy="2952750"/>
          </a:xfrm>
          <a:prstGeom prst="roundRect">
            <a:avLst>
              <a:gd name="adj" fmla="val 3871"/>
            </a:avLst>
          </a:prstGeom>
          <a:solidFill>
            <a:srgbClr val="E8F7F7"/>
          </a:solidFill>
          <a:ln w="0">
            <a:solidFill>
              <a:srgbClr val="BFE9E9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BD6B63C-B86F-4DBF-BE79-F6B748DA3CD6}"/>
              </a:ext>
            </a:extLst>
          </p:cNvPr>
          <p:cNvSpPr>
            <a:spLocks noGrp="1"/>
          </p:cNvSpPr>
          <p:nvPr/>
        </p:nvSpPr>
        <p:spPr>
          <a:xfrm>
            <a:off x="6534150" y="2609850"/>
            <a:ext cx="3429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Recommendations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79DBCF3-2679-4B19-8083-757C812BB978}"/>
              </a:ext>
            </a:extLst>
          </p:cNvPr>
          <p:cNvSpPr>
            <a:spLocks noGrp="1"/>
          </p:cNvSpPr>
          <p:nvPr/>
        </p:nvSpPr>
        <p:spPr>
          <a:xfrm>
            <a:off x="6534150" y="3143250"/>
            <a:ext cx="438150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• Use larger and more diverse log datasets</a:t>
            </a:r>
          </a:p>
          <a:p>
            <a:pPr algn="l">
              <a:defRPr sz="142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• Integrate with a real ERP environment</a:t>
            </a:r>
          </a:p>
          <a:p>
            <a:pPr algn="l">
              <a:defRPr sz="142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• Add advanced AI models</a:t>
            </a:r>
          </a:p>
          <a:p>
            <a:pPr algn="l">
              <a:defRPr sz="142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• Consider Zero Trust controls</a:t>
            </a:r>
          </a:p>
          <a:p>
            <a:pPr algn="l">
              <a:defRPr sz="142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• Add automated response only after validation</a:t>
            </a:r>
          </a:p>
        </p:txBody>
      </p:sp>
    </p:spTree>
    <p:extLst>
      <p:ext uri="{BB962C8B-B14F-4D97-AF65-F5344CB8AC3E}">
        <p14:creationId xmlns:p14="http://schemas.microsoft.com/office/powerpoint/2010/main" val="17697212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5573BB85-23BE-4D14-84D4-402A797AF9F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19A7A8"/>
          </a:solidFill>
          <a:ln w="0">
            <a:solidFill>
              <a:srgbClr val="19A7A8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2737502-650F-40E7-8323-7DFDC9FA678F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6667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9A7A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9A7A8"/>
                </a:solidFill>
                <a:latin typeface="Aptos"/>
                <a:ea typeface="Aptos"/>
                <a:cs typeface="Aptos"/>
              </a:rPr>
              <a:t>LEARNING ASPECTS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229B898-53EF-4460-91DF-DD709AC4625B}"/>
              </a:ext>
            </a:extLst>
          </p:cNvPr>
          <p:cNvSpPr>
            <a:spLocks noGrp="1"/>
          </p:cNvSpPr>
          <p:nvPr/>
        </p:nvSpPr>
        <p:spPr>
          <a:xfrm>
            <a:off x="10906125" y="400050"/>
            <a:ext cx="6000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1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86581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76CD1D6-BDA9-4085-BA09-780A6AD5E0A9}"/>
              </a:ext>
            </a:extLst>
          </p:cNvPr>
          <p:cNvSpPr>
            <a:spLocks noGrp="1"/>
          </p:cNvSpPr>
          <p:nvPr/>
        </p:nvSpPr>
        <p:spPr>
          <a:xfrm>
            <a:off x="685800" y="809625"/>
            <a:ext cx="10668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Key learning from the project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7C39800-4C24-4EED-B8BA-C6C68EA5F739}"/>
              </a:ext>
            </a:extLst>
          </p:cNvPr>
          <p:cNvSpPr>
            <a:spLocks noGrp="1"/>
          </p:cNvSpPr>
          <p:nvPr/>
        </p:nvSpPr>
        <p:spPr>
          <a:xfrm>
            <a:off x="685800" y="1438275"/>
            <a:ext cx="10382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The project connected cybersecurity concepts with an applied AI and cloud-monitoring workflow.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2955071-3D40-4EB6-A2B1-7023B08B750A}"/>
              </a:ext>
            </a:extLst>
          </p:cNvPr>
          <p:cNvSpPr>
            <a:spLocks noGrp="1"/>
          </p:cNvSpPr>
          <p:nvPr/>
        </p:nvSpPr>
        <p:spPr>
          <a:xfrm>
            <a:off x="819150" y="2286000"/>
            <a:ext cx="4762500" cy="120015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0">
            <a:solidFill>
              <a:srgbClr val="D8E5EE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4C86920-9136-4E7E-85D3-F3B9D6436213}"/>
              </a:ext>
            </a:extLst>
          </p:cNvPr>
          <p:cNvSpPr>
            <a:spLocks noGrp="1"/>
          </p:cNvSpPr>
          <p:nvPr/>
        </p:nvSpPr>
        <p:spPr>
          <a:xfrm>
            <a:off x="1085850" y="2495550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Cloud security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7C164EF-D90C-4C2F-B644-A7726866600E}"/>
              </a:ext>
            </a:extLst>
          </p:cNvPr>
          <p:cNvSpPr>
            <a:spLocks noGrp="1"/>
          </p:cNvSpPr>
          <p:nvPr/>
        </p:nvSpPr>
        <p:spPr>
          <a:xfrm>
            <a:off x="1085850" y="2847975"/>
            <a:ext cx="40481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How cloud logs and monitoring support protection of sensitive ERP activity.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26BA105-F741-44F0-AFA2-0B77C44E5853}"/>
              </a:ext>
            </a:extLst>
          </p:cNvPr>
          <p:cNvSpPr>
            <a:spLocks noGrp="1"/>
          </p:cNvSpPr>
          <p:nvPr/>
        </p:nvSpPr>
        <p:spPr>
          <a:xfrm>
            <a:off x="819150" y="3857625"/>
            <a:ext cx="4762500" cy="120015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0">
            <a:solidFill>
              <a:srgbClr val="D8E5EE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F1F08A2-98DD-4BC1-A0B0-54E95857F2CA}"/>
              </a:ext>
            </a:extLst>
          </p:cNvPr>
          <p:cNvSpPr>
            <a:spLocks noGrp="1"/>
          </p:cNvSpPr>
          <p:nvPr/>
        </p:nvSpPr>
        <p:spPr>
          <a:xfrm>
            <a:off x="1085850" y="4067175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Machine learning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E6D4DFD-41EF-4642-AC1D-C79825CDCAA6}"/>
              </a:ext>
            </a:extLst>
          </p:cNvPr>
          <p:cNvSpPr>
            <a:spLocks noGrp="1"/>
          </p:cNvSpPr>
          <p:nvPr/>
        </p:nvSpPr>
        <p:spPr>
          <a:xfrm>
            <a:off x="1085850" y="4419600"/>
            <a:ext cx="40481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How AI-based anomaly detection can support identification of suspicious behaviour.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330F80D-5775-4637-A224-222FD0FB639C}"/>
              </a:ext>
            </a:extLst>
          </p:cNvPr>
          <p:cNvSpPr>
            <a:spLocks noGrp="1"/>
          </p:cNvSpPr>
          <p:nvPr/>
        </p:nvSpPr>
        <p:spPr>
          <a:xfrm>
            <a:off x="6334125" y="2286000"/>
            <a:ext cx="4762500" cy="120015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0">
            <a:solidFill>
              <a:srgbClr val="D8E5EE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24E436B-9DBB-47AA-8683-250E69CC35C1}"/>
              </a:ext>
            </a:extLst>
          </p:cNvPr>
          <p:cNvSpPr>
            <a:spLocks noGrp="1"/>
          </p:cNvSpPr>
          <p:nvPr/>
        </p:nvSpPr>
        <p:spPr>
          <a:xfrm>
            <a:off x="6600825" y="2495550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Threat hunting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F2F947B-32D1-4473-AB34-991C62B58175}"/>
              </a:ext>
            </a:extLst>
          </p:cNvPr>
          <p:cNvSpPr>
            <a:spLocks noGrp="1"/>
          </p:cNvSpPr>
          <p:nvPr/>
        </p:nvSpPr>
        <p:spPr>
          <a:xfrm>
            <a:off x="6600825" y="2847975"/>
            <a:ext cx="40481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How to move from passive monitoring toward proactive investigation and alerts.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F51737D-7313-413F-BEBA-47C44251EA19}"/>
              </a:ext>
            </a:extLst>
          </p:cNvPr>
          <p:cNvSpPr>
            <a:spLocks noGrp="1"/>
          </p:cNvSpPr>
          <p:nvPr/>
        </p:nvSpPr>
        <p:spPr>
          <a:xfrm>
            <a:off x="6334125" y="3857625"/>
            <a:ext cx="4762500" cy="120015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0">
            <a:solidFill>
              <a:srgbClr val="D8E5EE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183F286-06BF-4161-92B5-C8D1274C9E7A}"/>
              </a:ext>
            </a:extLst>
          </p:cNvPr>
          <p:cNvSpPr>
            <a:spLocks noGrp="1"/>
          </p:cNvSpPr>
          <p:nvPr/>
        </p:nvSpPr>
        <p:spPr>
          <a:xfrm>
            <a:off x="6600825" y="4067175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System design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59D8A57-65B6-4D20-9015-3442CBCC45C4}"/>
              </a:ext>
            </a:extLst>
          </p:cNvPr>
          <p:cNvSpPr>
            <a:spLocks noGrp="1"/>
          </p:cNvSpPr>
          <p:nvPr/>
        </p:nvSpPr>
        <p:spPr>
          <a:xfrm>
            <a:off x="6600825" y="4419600"/>
            <a:ext cx="40481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How users, ERP activity, logs, AI analysis, and alerts connect in a practical architecture.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B410AB3-FCF5-4197-BBBF-8A513A2D7591}"/>
              </a:ext>
            </a:extLst>
          </p:cNvPr>
          <p:cNvSpPr>
            <a:spLocks noGrp="1"/>
          </p:cNvSpPr>
          <p:nvPr/>
        </p:nvSpPr>
        <p:spPr>
          <a:xfrm>
            <a:off x="685800" y="5781675"/>
            <a:ext cx="2857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19A7A8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9A7A8"/>
                </a:solidFill>
                <a:latin typeface="Aptos"/>
                <a:ea typeface="Aptos"/>
                <a:cs typeface="Aptos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02993573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445</Words>
  <Application>Microsoft Office PowerPoint</Application>
  <DocSecurity>0</DocSecurity>
  <PresentationFormat>Widescreen</PresentationFormat>
  <Paragraphs>80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Aptos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Ranjan Kumar Upadhyay</cp:lastModifiedBy>
  <cp:revision>3</cp:revision>
  <dcterms:created xsi:type="dcterms:W3CDTF">2026-08-16T14:18:47Z</dcterms:created>
  <dcterms:modified xsi:type="dcterms:W3CDTF">2026-08-20T13:50:34Z</dcterms:modified>
</cp:coreProperties>
</file>